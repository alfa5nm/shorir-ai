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a35f332bfcc4856" /><Relationship Type="http://schemas.openxmlformats.org/officeDocument/2006/relationships/extended-properties" Target="/docProps/app.xml" Id="R224f814f5a134e03" /><Relationship Type="http://schemas.openxmlformats.org/officeDocument/2006/relationships/officeDocument" Target="/ppt/presentation.xml" Id="R2a6807bc9629429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3084f995cc74537"/>
  </p:sldMasterIdLst>
  <p:notesMasterIdLst>
    <p:notesMasterId xmlns:r="http://schemas.openxmlformats.org/officeDocument/2006/relationships" r:id="Rdc10a250816a40c9"/>
  </p:notesMasterIdLst>
  <p:sldIdLst>
    <p:sldId xmlns:r="http://schemas.openxmlformats.org/officeDocument/2006/relationships" id="256" r:id="Ra56f4849077f4bb1"/>
    <p:sldId xmlns:r="http://schemas.openxmlformats.org/officeDocument/2006/relationships" id="257" r:id="Rc9260fe4c1084ae9"/>
    <p:sldId xmlns:r="http://schemas.openxmlformats.org/officeDocument/2006/relationships" id="258" r:id="R9414e55a7533418a"/>
    <p:sldId xmlns:r="http://schemas.openxmlformats.org/officeDocument/2006/relationships" id="259" r:id="R2381e28aa4174d7b"/>
    <p:sldId xmlns:r="http://schemas.openxmlformats.org/officeDocument/2006/relationships" id="260" r:id="Rc07b86f6f6d342a6"/>
    <p:sldId xmlns:r="http://schemas.openxmlformats.org/officeDocument/2006/relationships" id="261" r:id="Rbdd6b694c82d4118"/>
    <p:sldId xmlns:r="http://schemas.openxmlformats.org/officeDocument/2006/relationships" id="262" r:id="Rba4bae015b03404c"/>
    <p:sldId xmlns:r="http://schemas.openxmlformats.org/officeDocument/2006/relationships" id="263" r:id="R9db59c73e1a246d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aa8bf659ffe45fc" /><Relationship Type="http://schemas.openxmlformats.org/officeDocument/2006/relationships/slideMaster" Target="/ppt/slideMasters/slideMaster1.xml" Id="Rb3084f995cc74537" /><Relationship Type="http://schemas.openxmlformats.org/officeDocument/2006/relationships/notesMaster" Target="/ppt/notesMasters/notesMaster1.xml" Id="Rdc10a250816a40c9" /><Relationship Type="http://schemas.openxmlformats.org/officeDocument/2006/relationships/presProps" Target="/ppt/presProps.xml" Id="R4367e8f54cf841e3" /><Relationship Type="http://schemas.openxmlformats.org/officeDocument/2006/relationships/tableStyles" Target="/ppt/tableStyles.xml" Id="R2e86778aa7824805" /><Relationship Type="http://schemas.openxmlformats.org/officeDocument/2006/relationships/slide" Target="/ppt/slides/slide1.xml" Id="Ra56f4849077f4bb1" /><Relationship Type="http://schemas.openxmlformats.org/officeDocument/2006/relationships/slide" Target="/ppt/slides/slide2.xml" Id="Rc9260fe4c1084ae9" /><Relationship Type="http://schemas.openxmlformats.org/officeDocument/2006/relationships/slide" Target="/ppt/slides/slide3.xml" Id="R9414e55a7533418a" /><Relationship Type="http://schemas.openxmlformats.org/officeDocument/2006/relationships/slide" Target="/ppt/slides/slide4.xml" Id="R2381e28aa4174d7b" /><Relationship Type="http://schemas.openxmlformats.org/officeDocument/2006/relationships/slide" Target="/ppt/slides/slide5.xml" Id="Rc07b86f6f6d342a6" /><Relationship Type="http://schemas.openxmlformats.org/officeDocument/2006/relationships/slide" Target="/ppt/slides/slide6.xml" Id="Rbdd6b694c82d4118" /><Relationship Type="http://schemas.openxmlformats.org/officeDocument/2006/relationships/slide" Target="/ppt/slides/slide7.xml" Id="Rba4bae015b03404c" /><Relationship Type="http://schemas.openxmlformats.org/officeDocument/2006/relationships/slide" Target="/ppt/slides/slide8.xml" Id="R9db59c73e1a246d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6a7ab671d194df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de4ebb0375942b0" /><Relationship Type="http://schemas.openxmlformats.org/officeDocument/2006/relationships/notesMaster" Target="/ppt/notesMasters/notesMaster1.xml" Id="R7e45ebe445c2415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7e11b544a394a2d" /><Relationship Type="http://schemas.openxmlformats.org/officeDocument/2006/relationships/notesMaster" Target="/ppt/notesMasters/notesMaster1.xml" Id="R70cdaf5ddae746e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7868c71562e480d" /><Relationship Type="http://schemas.openxmlformats.org/officeDocument/2006/relationships/notesMaster" Target="/ppt/notesMasters/notesMaster1.xml" Id="R6db7b36da998474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7667a2b2cfe40aa" /><Relationship Type="http://schemas.openxmlformats.org/officeDocument/2006/relationships/notesMaster" Target="/ppt/notesMasters/notesMaster1.xml" Id="Rd4d0b417226b483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e6a73968f7c43be" /><Relationship Type="http://schemas.openxmlformats.org/officeDocument/2006/relationships/notesMaster" Target="/ppt/notesMasters/notesMaster1.xml" Id="R8a5cb0656dfd4ea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b611abf20a2447d" /><Relationship Type="http://schemas.openxmlformats.org/officeDocument/2006/relationships/notesMaster" Target="/ppt/notesMasters/notesMaster1.xml" Id="Rceb71679e27f40d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105c618c8b14e45" /><Relationship Type="http://schemas.openxmlformats.org/officeDocument/2006/relationships/notesMaster" Target="/ppt/notesMasters/notesMaster1.xml" Id="Reafbb988f2164ed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feab6d657634346" /><Relationship Type="http://schemas.openxmlformats.org/officeDocument/2006/relationships/notesMaster" Target="/ppt/notesMasters/notesMaster1.xml" Id="Rca5cec94f3144e6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58f294a77b41b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e31d7948b5c46f1" /><Relationship Type="http://schemas.openxmlformats.org/officeDocument/2006/relationships/slideLayout" Target="/ppt/slideLayouts/slideLayout1.xml" Id="R3c1d28f862f246a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c1d28f862f246a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e99d5c66094461" /><Relationship Type="http://schemas.openxmlformats.org/officeDocument/2006/relationships/image" Target="/ppt/media/image.png" Id="Re53b1ca07adc4282" /><Relationship Type="http://schemas.openxmlformats.org/officeDocument/2006/relationships/image" Target="/ppt/media/image2.png" Id="Rd04d42c9a26b412a" /><Relationship Type="http://schemas.openxmlformats.org/officeDocument/2006/relationships/notesSlide" Target="/ppt/notesSlides/notesSlide1.xml" Id="R010902260683419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8571ad842949df" /><Relationship Type="http://schemas.openxmlformats.org/officeDocument/2006/relationships/notesSlide" Target="/ppt/notesSlides/notesSlide2.xml" Id="R0239acaa4c04473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761529fe9247ec" /><Relationship Type="http://schemas.openxmlformats.org/officeDocument/2006/relationships/image" Target="/ppt/media/image.jpeg" Id="R082f2f8ed60a44a0" /><Relationship Type="http://schemas.openxmlformats.org/officeDocument/2006/relationships/notesSlide" Target="/ppt/notesSlides/notesSlide3.xml" Id="Rd7ac2030fb694a3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06723c8d8d4ae2" /><Relationship Type="http://schemas.openxmlformats.org/officeDocument/2006/relationships/image" Target="/ppt/media/image2.jpeg" Id="R986892ccaf4243fe" /><Relationship Type="http://schemas.openxmlformats.org/officeDocument/2006/relationships/notesSlide" Target="/ppt/notesSlides/notesSlide4.xml" Id="R3624ea3f196f450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290a6533584ba5" /><Relationship Type="http://schemas.openxmlformats.org/officeDocument/2006/relationships/image" Target="/ppt/media/image3.jpeg" Id="R6df3587121114837" /><Relationship Type="http://schemas.openxmlformats.org/officeDocument/2006/relationships/image" Target="/ppt/media/image4.jpeg" Id="Ra9b0d6da85bb4e15" /><Relationship Type="http://schemas.openxmlformats.org/officeDocument/2006/relationships/notesSlide" Target="/ppt/notesSlides/notesSlide5.xml" Id="Rfa7ddd7b2fcf413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b9cec5386945c0" /><Relationship Type="http://schemas.openxmlformats.org/officeDocument/2006/relationships/notesSlide" Target="/ppt/notesSlides/notesSlide6.xml" Id="R8a081896535d407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ba070217884479" /><Relationship Type="http://schemas.openxmlformats.org/officeDocument/2006/relationships/notesSlide" Target="/ppt/notesSlides/notesSlide7.xml" Id="Rcc83570b7976471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7de096b25a435e" /><Relationship Type="http://schemas.openxmlformats.org/officeDocument/2006/relationships/notesSlide" Target="/ppt/notesSlides/notesSlide8.xml" Id="Rdef85bca5bd84d9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7A347DC-6903-4D5C-AD8C-CC51FD3DE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>
              <a:gd name="adj" fmla="val 1111"/>
            </a:avLst>
          </a:prstGeom>
          <a:solidFill xmlns:a="http://schemas.openxmlformats.org/drawingml/2006/main">
            <a:srgbClr val="F5F8FC"/>
          </a:solidFill>
          <a:ln xmlns:a="http://schemas.openxmlformats.org/drawingml/2006/main" w="9525">
            <a:solidFill>
              <a:srgbClr val="F5F8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8062D2-5176-433D-8EB4-6205F4B1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05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467D8"/>
                </a:solidFill>
              </a:defRPr>
            </a:pPr>
            <a:r>
              <a:rPr sz="1050" b="1">
                <a:solidFill>
                  <a:srgbClr val="1467D8"/>
                </a:solidFill>
              </a:rPr>
              <a:t>MINDSPARKS 26 · CODEFRONT CHALLENGE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C55D00-A61A-48E4-B0D1-998A85C2D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33500"/>
            <a:ext cx="666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172033"/>
                </a:solidFill>
              </a:defRPr>
            </a:pPr>
            <a:r>
              <a:rPr sz="4200" b="1">
                <a:solidFill>
                  <a:srgbClr val="172033"/>
                </a:solidFill>
              </a:rPr>
              <a:t>SHORIR AI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E23B91-6C57-465B-9DFE-C446C969C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52650"/>
            <a:ext cx="714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68758A"/>
                </a:solidFill>
              </a:defRPr>
            </a:pPr>
            <a:r>
              <a:rPr sz="2100" b="0">
                <a:solidFill>
                  <a:srgbClr val="68758A"/>
                </a:solidFill>
              </a:rPr>
              <a:t>Bangla-first, privacy-aware movement intelligence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1DA18D-C74E-4D43-AF8B-B76072C00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38500"/>
            <a:ext cx="447675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67D8"/>
          </a:solidFill>
          <a:ln xmlns:a="http://schemas.openxmlformats.org/drawingml/2006/main" w="9525">
            <a:solidFill>
              <a:srgbClr val="1467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66267C-558C-4F0D-A623-5BF461201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62350"/>
            <a:ext cx="6572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33"/>
                </a:solidFill>
              </a:defRPr>
            </a:pPr>
            <a:r>
              <a:rPr sz="1500" b="0">
                <a:solidFill>
                  <a:srgbClr val="172033"/>
                </a:solidFill>
              </a:rPr>
              <a:t>Live pose coaching · Exercise guidance · Diet planning · Calorie review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582FD4-5207-430E-A07B-55AD0EF13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531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Team El Bracino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3b1ca07adc4282"/>
          <a:stretch xmlns:a="http://schemas.openxmlformats.org/drawingml/2006/main"/>
        </p:blipFill>
        <p:spPr>
          <a:xfrm xmlns:a="http://schemas.openxmlformats.org/drawingml/2006/main">
            <a:off x="8591733" y="1123950"/>
            <a:ext cx="2152284" cy="2381250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4d42c9a26b412a"/>
          <a:stretch xmlns:a="http://schemas.openxmlformats.org/drawingml/2006/main"/>
        </p:blipFill>
        <p:spPr>
          <a:xfrm xmlns:a="http://schemas.openxmlformats.org/drawingml/2006/main">
            <a:off x="8982075" y="4686300"/>
            <a:ext cx="990600" cy="9906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25170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E98D8C-0567-4C8E-B246-73481681A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467D8"/>
                </a:solidFill>
              </a:defRPr>
            </a:pPr>
            <a:r>
              <a:rPr sz="975" b="1">
                <a:solidFill>
                  <a:srgbClr val="1467D8"/>
                </a:solidFill>
              </a:rPr>
              <a:t>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F3EE61-8ABA-471B-A80C-0F9BBC155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23900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33"/>
                </a:solidFill>
              </a:defRPr>
            </a:pPr>
            <a:r>
              <a:rPr sz="2850" b="1">
                <a:solidFill>
                  <a:srgbClr val="172033"/>
                </a:solidFill>
              </a:rPr>
              <a:t>Fitness guidance fails when it is generic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BB604E-E3C5-4635-A85C-402E2ECBF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716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5E9AA1-3462-4D79-82D0-7A42892ED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028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2033"/>
                </a:solidFill>
              </a:defRPr>
            </a:pPr>
            <a:r>
              <a:rPr sz="2025" b="1">
                <a:solidFill>
                  <a:srgbClr val="172033"/>
                </a:solidFill>
              </a:rPr>
              <a:t>Most digital fitness tools assume strong English fluency, ideal camera setup, and confident exercise knowledge.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7CF49B-760D-420F-AFF1-24E7E5944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95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467D8"/>
          </a:solidFill>
          <a:ln xmlns:a="http://schemas.openxmlformats.org/drawingml/2006/main" w="9525">
            <a:solidFill>
              <a:srgbClr val="1467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B9A024-415D-460D-823C-2414180C0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57500"/>
            <a:ext cx="1009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33"/>
                </a:solidFill>
              </a:defRPr>
            </a:pPr>
            <a:r>
              <a:rPr sz="1500" b="0">
                <a:solidFill>
                  <a:srgbClr val="172033"/>
                </a:solidFill>
              </a:rPr>
              <a:t>Beginners need clear setup and movement cues in familiar language.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17DF35-0B22-4009-9A30-8253D573F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9975"/>
            <a:ext cx="95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467D8"/>
          </a:solidFill>
          <a:ln xmlns:a="http://schemas.openxmlformats.org/drawingml/2006/main" w="9525">
            <a:solidFill>
              <a:srgbClr val="1467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B8CEDA-4AA5-46AB-ABB0-666EAB431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43300"/>
            <a:ext cx="1009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33"/>
                </a:solidFill>
              </a:defRPr>
            </a:pPr>
            <a:r>
              <a:rPr sz="1500" b="0">
                <a:solidFill>
                  <a:srgbClr val="172033"/>
                </a:solidFill>
              </a:rPr>
              <a:t>Camera-based rep counters often accept noisy landmarks and random movement.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E89AB6-D88E-46F6-A5EB-65253792B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95775"/>
            <a:ext cx="95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467D8"/>
          </a:solidFill>
          <a:ln xmlns:a="http://schemas.openxmlformats.org/drawingml/2006/main" w="9525">
            <a:solidFill>
              <a:srgbClr val="1467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FAF25D-FD97-41C5-9F7A-C7A5ED8F3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29100"/>
            <a:ext cx="1009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33"/>
                </a:solidFill>
              </a:defRPr>
            </a:pPr>
            <a:r>
              <a:rPr sz="1500" b="0">
                <a:solidFill>
                  <a:srgbClr val="172033"/>
                </a:solidFill>
              </a:rPr>
              <a:t>Workout, diet, calorie review, and progress are usually fragmented.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05E583-8C08-4235-9E34-B00C66E1E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81575"/>
            <a:ext cx="95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467D8"/>
          </a:solidFill>
          <a:ln xmlns:a="http://schemas.openxmlformats.org/drawingml/2006/main" w="9525">
            <a:solidFill>
              <a:srgbClr val="1467D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44B544-12CB-400B-9A8A-D94BA6127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914900"/>
            <a:ext cx="1009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33"/>
                </a:solidFill>
              </a:defRPr>
            </a:pPr>
            <a:r>
              <a:rPr sz="1500" b="0">
                <a:solidFill>
                  <a:srgbClr val="172033"/>
                </a:solidFill>
              </a:rPr>
              <a:t>Uploading live video creates unnecessary privacy risk.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D211FE-2467-40FE-BFEA-F3BFAC92E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8758A"/>
                </a:solidFill>
              </a:defRPr>
            </a:pPr>
            <a:r>
              <a:rPr sz="750" b="1">
                <a:solidFill>
                  <a:srgbClr val="68758A"/>
                </a:solidFill>
              </a:rPr>
              <a:t>SHORIR AI · MINDSPARKS 26 CODEFRONT CHALLENGE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8511F5-6133-47C9-8FC1-3EC503A77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15100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8758A"/>
                </a:solidFill>
              </a:defRPr>
            </a:pPr>
            <a:r>
              <a:rPr sz="750" b="1">
                <a:solidFill>
                  <a:srgbClr val="68758A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51541693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150EFAC-E1A7-4D4A-99A6-342DE6CBE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467D8"/>
                </a:solidFill>
              </a:defRPr>
            </a:pPr>
            <a:r>
              <a:rPr sz="975" b="1">
                <a:solidFill>
                  <a:srgbClr val="1467D8"/>
                </a:solidFill>
              </a:rPr>
              <a:t>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D90E1A-AD44-4E38-A7A1-28524D5FD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23900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33"/>
                </a:solidFill>
              </a:defRPr>
            </a:pPr>
            <a:r>
              <a:rPr sz="2850" b="1">
                <a:solidFill>
                  <a:srgbClr val="172033"/>
                </a:solidFill>
              </a:rPr>
              <a:t>One coordinated daily fitness workspace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D929C1-405E-4BDB-821C-370858B6E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716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E"/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2f2f8ed60a44a0"/>
          <a:srcRect xmlns:a="http://schemas.openxmlformats.org/drawingml/2006/main" l="1128" t="0" r="112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14950" y="1581150"/>
            <a:ext cx="6191250" cy="4000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F401A2-5054-41DE-A06E-1B2DE8873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400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2033"/>
                </a:solidFill>
              </a:defRPr>
            </a:pPr>
            <a:r>
              <a:rPr sz="2025" b="1">
                <a:solidFill>
                  <a:srgbClr val="172033"/>
                </a:solidFill>
              </a:rPr>
              <a:t>A profile-aware plan connects every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F28836-9FD3-45C6-8BE5-82D3BD310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67D8"/>
                </a:solidFill>
              </a:defRPr>
            </a:pPr>
            <a:r>
              <a:rPr sz="1500" b="1">
                <a:solidFill>
                  <a:srgbClr val="1467D8"/>
                </a:solidFill>
              </a:rPr>
              <a:t>Dashboard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581F8D-C614-4010-88FD-BE8ECF342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4000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58A"/>
                </a:solidFill>
              </a:defRPr>
            </a:pPr>
            <a:r>
              <a:rPr sz="1275" b="0">
                <a:solidFill>
                  <a:srgbClr val="68758A"/>
                </a:solidFill>
              </a:rPr>
              <a:t>Daily workout recommendations shaped by goals, schedule, equipment, safety flags, and recent sessions.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F262BF-BA56-4EBC-811E-89CA0BBC6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481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67D8"/>
                </a:solidFill>
              </a:defRPr>
            </a:pPr>
            <a:r>
              <a:rPr sz="1500" b="1">
                <a:solidFill>
                  <a:srgbClr val="1467D8"/>
                </a:solidFill>
              </a:rPr>
              <a:t>Connected modules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391D71-009D-4C46-90BA-92DC6E833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400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58A"/>
                </a:solidFill>
              </a:defRPr>
            </a:pPr>
            <a:r>
              <a:rPr sz="1275" b="0">
                <a:solidFill>
                  <a:srgbClr val="68758A"/>
                </a:solidFill>
              </a:rPr>
              <a:t>Pose Coach · Exercises · Diet Chart ·</a:t>
            </a:r>
          </a:p>
          <a:p xmlns:a="http://schemas.openxmlformats.org/drawingml/2006/main">
            <a:pPr algn="l">
              <a:defRPr sz="1275" b="0">
                <a:solidFill>
                  <a:srgbClr val="68758A"/>
                </a:solidFill>
              </a:defRPr>
            </a:pPr>
            <a:r>
              <a:rPr sz="1275" b="0">
                <a:solidFill>
                  <a:srgbClr val="68758A"/>
                </a:solidFill>
              </a:rPr>
              <a:t>Calorie Check · Progress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82E875-34C8-4401-B912-C0E6D6E00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8758A"/>
                </a:solidFill>
              </a:defRPr>
            </a:pPr>
            <a:r>
              <a:rPr sz="750" b="1">
                <a:solidFill>
                  <a:srgbClr val="68758A"/>
                </a:solidFill>
              </a:rPr>
              <a:t>SHORIR AI · MINDSPARKS 26 CODEFRONT CHALLENGE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674995-EC64-4734-B145-29DFBAFB4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15100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8758A"/>
                </a:solidFill>
              </a:defRPr>
            </a:pPr>
            <a:r>
              <a:rPr sz="750" b="1">
                <a:solidFill>
                  <a:srgbClr val="68758A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85183483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D05FADF-97CC-47CA-84D0-CE851BFAD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467D8"/>
                </a:solidFill>
              </a:defRPr>
            </a:pPr>
            <a:r>
              <a:rPr sz="975" b="1">
                <a:solidFill>
                  <a:srgbClr val="1467D8"/>
                </a:solidFill>
              </a:rPr>
              <a:t>CORE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B2E541-DB33-4C28-B7C6-2B1DD4508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23900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33"/>
                </a:solidFill>
              </a:defRPr>
            </a:pPr>
            <a:r>
              <a:rPr sz="2850" b="1">
                <a:solidFill>
                  <a:srgbClr val="172033"/>
                </a:solidFill>
              </a:rPr>
              <a:t>Strict pose validation before every rep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2DF9A9-D3E4-4E6E-94ED-D10DEA005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716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E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6892ccaf4243fe"/>
          <a:srcRect xmlns:a="http://schemas.openxmlformats.org/drawingml/2006/main" l="0" t="2720" r="0" b="27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7700" y="1638300"/>
            <a:ext cx="6858000" cy="409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CEAE64-254A-4F6B-BAAD-B5A0F8ABE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6954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67D8"/>
                </a:solidFill>
              </a:defRPr>
            </a:pPr>
            <a:r>
              <a:rPr sz="1650" b="1">
                <a:solidFill>
                  <a:srgbClr val="1467D8"/>
                </a:solidFill>
              </a:rPr>
              <a:t>Quality gate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B248EC-A465-4F75-8B0A-C1FE70D4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038350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58A"/>
                </a:solidFill>
              </a:defRPr>
            </a:pPr>
            <a:r>
              <a:rPr sz="1275" b="0">
                <a:solidFill>
                  <a:srgbClr val="68758A"/>
                </a:solidFill>
              </a:rPr>
              <a:t>Confidence, body scale, jitter, orientation, activity region, and side consistency.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C98F8A-5616-486D-9B42-6EA679961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1432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67D8"/>
                </a:solidFill>
              </a:defRPr>
            </a:pPr>
            <a:r>
              <a:rPr sz="1650" b="1">
                <a:solidFill>
                  <a:srgbClr val="1467D8"/>
                </a:solidFill>
              </a:rPr>
              <a:t>Ordered state machine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19F25B-8411-4A18-8530-01E838595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486150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58A"/>
                </a:solidFill>
              </a:defRPr>
            </a:pPr>
            <a:r>
              <a:rPr sz="1275" b="0">
                <a:solidFill>
                  <a:srgbClr val="68758A"/>
                </a:solidFill>
              </a:rPr>
              <a:t>Stable top → controlled descent → confirmed depth → controlled ascent → lockout.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D1D5BB-B7E1-4349-A77B-434D8F2DA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5910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67D8"/>
                </a:solidFill>
              </a:defRPr>
            </a:pPr>
            <a:r>
              <a:rPr sz="1650" b="1">
                <a:solidFill>
                  <a:srgbClr val="1467D8"/>
                </a:solidFill>
              </a:rPr>
              <a:t>Privacy by design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928C2E-3728-42CC-B8D9-BA0088650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933950"/>
            <a:ext cx="3333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58A"/>
                </a:solidFill>
              </a:defRPr>
            </a:pPr>
            <a:r>
              <a:rPr sz="1275" b="0">
                <a:solidFill>
                  <a:srgbClr val="68758A"/>
                </a:solidFill>
              </a:rPr>
              <a:t>MediaPipe runs in the browser. Raw pose frames are not uploaded.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4E9289-CECD-4BAD-B8AB-39144EF2D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8758A"/>
                </a:solidFill>
              </a:defRPr>
            </a:pPr>
            <a:r>
              <a:rPr sz="750" b="1">
                <a:solidFill>
                  <a:srgbClr val="68758A"/>
                </a:solidFill>
              </a:rPr>
              <a:t>SHORIR AI · MINDSPARKS 26 CODEFRONT CHALLENGE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F000B4-455A-4C52-B41C-E3ED89182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15100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8758A"/>
                </a:solidFill>
              </a:defRPr>
            </a:pPr>
            <a:r>
              <a:rPr sz="750" b="1">
                <a:solidFill>
                  <a:srgbClr val="68758A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4004331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B7D7E7-4DBD-4AC9-8201-53A439EA7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467D8"/>
                </a:solidFill>
              </a:defRPr>
            </a:pPr>
            <a:r>
              <a:rPr sz="975" b="1">
                <a:solidFill>
                  <a:srgbClr val="1467D8"/>
                </a:solidFill>
              </a:rPr>
              <a:t>NUTRITION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B0431A-F537-46A4-961A-D8F3B8CA5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23900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33"/>
                </a:solidFill>
              </a:defRPr>
            </a:pPr>
            <a:r>
              <a:rPr sz="2850" b="1">
                <a:solidFill>
                  <a:srgbClr val="172033"/>
                </a:solidFill>
              </a:rPr>
              <a:t>Local food context, practical decisions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EF6924-41C2-4C0C-B7B8-8FF339CDD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716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339233-2C92-4EBD-9C43-85DBD0BF8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19250"/>
            <a:ext cx="5095875" cy="4095750"/>
          </a:xfrm>
          <a:prstGeom xmlns:a="http://schemas.openxmlformats.org/drawingml/2006/main" prst="roundRect">
            <a:avLst>
              <a:gd name="adj" fmla="val 13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364C0D-5051-4881-A32B-7B1AC3575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1619250"/>
            <a:ext cx="5095875" cy="4095750"/>
          </a:xfrm>
          <a:prstGeom xmlns:a="http://schemas.openxmlformats.org/drawingml/2006/main" prst="roundRect">
            <a:avLst>
              <a:gd name="adj" fmla="val 13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E"/>
            </a:solidFill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f3587121114837"/>
          <a:stretch xmlns:a="http://schemas.openxmlformats.org/drawingml/2006/main"/>
        </p:blipFill>
        <p:spPr>
          <a:xfrm xmlns:a="http://schemas.openxmlformats.org/drawingml/2006/main">
            <a:off x="704850" y="2093996"/>
            <a:ext cx="4981575" cy="3146258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b0d6da85bb4e15"/>
          <a:stretch xmlns:a="http://schemas.openxmlformats.org/drawingml/2006/main"/>
        </p:blipFill>
        <p:spPr>
          <a:xfrm xmlns:a="http://schemas.openxmlformats.org/drawingml/2006/main">
            <a:off x="6505575" y="2093996"/>
            <a:ext cx="4981575" cy="3146258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C6AA66-BCC6-4800-8175-49C07B1C7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864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Diet Chart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9F3A30-8D11-4650-A60C-3061FEFB9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895975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8758A"/>
                </a:solidFill>
              </a:defRPr>
            </a:pPr>
            <a:r>
              <a:rPr sz="1125" b="0">
                <a:solidFill>
                  <a:srgbClr val="68758A"/>
                </a:solidFill>
              </a:rPr>
              <a:t>Bangladeshi meals scaled to profile targets.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787222-6F49-491D-974C-50B47BF38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58864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Calorie Check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295BEE-27BF-4BD5-BBEE-5DE4F347E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895975"/>
            <a:ext cx="3600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8758A"/>
                </a:solidFill>
              </a:defRPr>
            </a:pPr>
            <a:r>
              <a:rPr sz="1125" b="0">
                <a:solidFill>
                  <a:srgbClr val="68758A"/>
                </a:solidFill>
              </a:rPr>
              <a:t>Desktop or phone capture with cautious AI review.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3A738E-0CF1-40A1-9D4A-B77C8B31F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8758A"/>
                </a:solidFill>
              </a:defRPr>
            </a:pPr>
            <a:r>
              <a:rPr sz="750" b="1">
                <a:solidFill>
                  <a:srgbClr val="68758A"/>
                </a:solidFill>
              </a:rPr>
              <a:t>SHORIR AI · MINDSPARKS 26 CODEFRONT CHALLENGE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0B99EC-33DD-436B-B075-8C505E88D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15100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8758A"/>
                </a:solidFill>
              </a:defRPr>
            </a:pPr>
            <a:r>
              <a:rPr sz="750" b="1">
                <a:solidFill>
                  <a:srgbClr val="68758A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53602092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52A62A2-EACB-46D3-8746-00113F011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467D8"/>
                </a:solidFill>
              </a:defRPr>
            </a:pPr>
            <a:r>
              <a:rPr sz="975" b="1">
                <a:solidFill>
                  <a:srgbClr val="1467D8"/>
                </a:solidFill>
              </a:rPr>
              <a:t>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096C8C-F467-4D38-AF3A-72E918770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23900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33"/>
                </a:solidFill>
              </a:defRPr>
            </a:pPr>
            <a:r>
              <a:rPr sz="2850" b="1">
                <a:solidFill>
                  <a:srgbClr val="172033"/>
                </a:solidFill>
              </a:rPr>
              <a:t>Modular, testable, and deployable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1B1520-5077-491F-A2F7-206910590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716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337F3F-8B94-4E30-ABB2-8999FA354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2190750" cy="20002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E9F2FF"/>
          </a:solidFill>
          <a:ln xmlns:a="http://schemas.openxmlformats.org/drawingml/2006/main" w="9525">
            <a:solidFill>
              <a:srgbClr val="1467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748FD9-322C-4258-8C39-D5918144B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1771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467D8"/>
                </a:solidFill>
              </a:defRPr>
            </a:pPr>
            <a:r>
              <a:rPr sz="1575" b="1">
                <a:solidFill>
                  <a:srgbClr val="1467D8"/>
                </a:solidFill>
              </a:rPr>
              <a:t>React / Vite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9E5EBE-1392-4184-B3E5-264302CF3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81350"/>
            <a:ext cx="17716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8758A"/>
                </a:solidFill>
              </a:defRPr>
            </a:pPr>
            <a:r>
              <a:rPr sz="1200" b="0">
                <a:solidFill>
                  <a:srgbClr val="68758A"/>
                </a:solidFill>
              </a:rPr>
              <a:t>Responsive product UI</a:t>
            </a:r>
          </a:p>
          <a:p xmlns:a="http://schemas.openxmlformats.org/drawingml/2006/main">
            <a:pPr algn="ctr">
              <a:defRPr sz="1200" b="0">
                <a:solidFill>
                  <a:srgbClr val="68758A"/>
                </a:solidFill>
              </a:defRPr>
            </a:pPr>
            <a:r>
              <a:rPr sz="1200" b="0">
                <a:solidFill>
                  <a:srgbClr val="68758A"/>
                </a:solidFill>
              </a:rPr>
              <a:t>Local MediaPipe inference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8D45C8-A00C-49A5-AC5B-E6E93726A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30384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467D8"/>
                </a:solidFill>
              </a:defRPr>
            </a:pPr>
            <a:r>
              <a:rPr sz="2100" b="1">
                <a:solidFill>
                  <a:srgbClr val="1467D8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8C1158-DE51-4BEC-BBA3-189DFC6C2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286000"/>
            <a:ext cx="2190750" cy="20002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052499-3D7D-4E81-94FC-FB87795C3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571750"/>
            <a:ext cx="1771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72033"/>
                </a:solidFill>
              </a:defRPr>
            </a:pPr>
            <a:r>
              <a:rPr sz="1575" b="1">
                <a:solidFill>
                  <a:srgbClr val="172033"/>
                </a:solidFill>
              </a:rPr>
              <a:t>Ports + adapters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CA4DD1-1BF7-421F-9E1E-DA62DE862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181350"/>
            <a:ext cx="17716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8758A"/>
                </a:solidFill>
              </a:defRPr>
            </a:pPr>
            <a:r>
              <a:rPr sz="1200" b="0">
                <a:solidFill>
                  <a:srgbClr val="68758A"/>
                </a:solidFill>
              </a:rPr>
              <a:t>API client · pose estimator</a:t>
            </a:r>
          </a:p>
          <a:p xmlns:a="http://schemas.openxmlformats.org/drawingml/2006/main">
            <a:pPr algn="ctr">
              <a:defRPr sz="1200" b="0">
                <a:solidFill>
                  <a:srgbClr val="68758A"/>
                </a:solidFill>
              </a:defRPr>
            </a:pPr>
            <a:r>
              <a:rPr sz="1200" b="0">
                <a:solidFill>
                  <a:srgbClr val="68758A"/>
                </a:solidFill>
              </a:rPr>
              <a:t>Static content source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A9EACD-D966-4B45-B73B-8CC213AF7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30384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467D8"/>
                </a:solidFill>
              </a:defRPr>
            </a:pPr>
            <a:r>
              <a:rPr sz="2100" b="1">
                <a:solidFill>
                  <a:srgbClr val="1467D8"/>
                </a:solidFill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88C8A7-CD47-4460-8A1A-A19EDA4AA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286000"/>
            <a:ext cx="2190750" cy="20002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741F72-D5BB-458F-B607-D29851E7D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571750"/>
            <a:ext cx="1771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72033"/>
                </a:solidFill>
              </a:defRPr>
            </a:pPr>
            <a:r>
              <a:rPr sz="1575" b="1">
                <a:solidFill>
                  <a:srgbClr val="172033"/>
                </a:solidFill>
              </a:rPr>
              <a:t>Express API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C47AB4-9AA8-43F2-BF01-B8579F81C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181350"/>
            <a:ext cx="17716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8758A"/>
                </a:solidFill>
              </a:defRPr>
            </a:pPr>
            <a:r>
              <a:rPr sz="1200" b="0">
                <a:solidFill>
                  <a:srgbClr val="68758A"/>
                </a:solidFill>
              </a:rPr>
              <a:t>Profiles · sessions · reviews</a:t>
            </a:r>
          </a:p>
          <a:p xmlns:a="http://schemas.openxmlformats.org/drawingml/2006/main">
            <a:pPr algn="ctr">
              <a:defRPr sz="1200" b="0">
                <a:solidFill>
                  <a:srgbClr val="68758A"/>
                </a:solidFill>
              </a:defRPr>
            </a:pPr>
            <a:r>
              <a:rPr sz="1200" b="0">
                <a:solidFill>
                  <a:srgbClr val="68758A"/>
                </a:solidFill>
              </a:rPr>
              <a:t>WebRTC signaling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8D58EA-E660-4597-B61A-70E3804DA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30384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467D8"/>
                </a:solidFill>
              </a:defRPr>
            </a:pPr>
            <a:r>
              <a:rPr sz="2100" b="1">
                <a:solidFill>
                  <a:srgbClr val="1467D8"/>
                </a:solidFill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FB5AAC-AFC9-46FB-8ED2-65CA712B9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286000"/>
            <a:ext cx="2190750" cy="20002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122BCE-5471-4F2D-8554-8DD7CBC80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571750"/>
            <a:ext cx="1771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72033"/>
                </a:solidFill>
              </a:defRPr>
            </a:pPr>
            <a:r>
              <a:rPr sz="1575" b="1">
                <a:solidFill>
                  <a:srgbClr val="172033"/>
                </a:solidFill>
              </a:rPr>
              <a:t>Storage + AI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D80CA1-583B-414E-835C-60DD06D49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181350"/>
            <a:ext cx="17716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8758A"/>
                </a:solidFill>
              </a:defRPr>
            </a:pPr>
            <a:r>
              <a:rPr sz="1200" b="0">
                <a:solidFill>
                  <a:srgbClr val="68758A"/>
                </a:solidFill>
              </a:rPr>
              <a:t>Memory or Supabase</a:t>
            </a:r>
          </a:p>
          <a:p xmlns:a="http://schemas.openxmlformats.org/drawingml/2006/main">
            <a:pPr algn="ctr">
              <a:defRPr sz="1200" b="0">
                <a:solidFill>
                  <a:srgbClr val="68758A"/>
                </a:solidFill>
              </a:defRPr>
            </a:pPr>
            <a:r>
              <a:rPr sz="1200" b="0">
                <a:solidFill>
                  <a:srgbClr val="68758A"/>
                </a:solidFill>
              </a:rPr>
              <a:t>Stub or Gemini adapter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DDEAE3-8BE6-4B16-B6F9-718C81A9F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3870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Shared TypeScript contracts keep browser and API behavior aligned.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06E648-F7EE-46DB-A9BA-D928FC990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8758A"/>
                </a:solidFill>
              </a:defRPr>
            </a:pPr>
            <a:r>
              <a:rPr sz="1350" b="0">
                <a:solidFill>
                  <a:srgbClr val="68758A"/>
                </a:solidFill>
              </a:rPr>
              <a:t>Production deployment serves the web build and API from one Railway service.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0397A1-2657-4FCA-93C2-EA7D434D9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8758A"/>
                </a:solidFill>
              </a:defRPr>
            </a:pPr>
            <a:r>
              <a:rPr sz="750" b="1">
                <a:solidFill>
                  <a:srgbClr val="68758A"/>
                </a:solidFill>
              </a:rPr>
              <a:t>SHORIR AI · MINDSPARKS 26 CODEFRONT CHALLENGE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5B1141-F280-4D51-A777-AE8079126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15100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8758A"/>
                </a:solidFill>
              </a:defRPr>
            </a:pPr>
            <a:r>
              <a:rPr sz="750" b="1">
                <a:solidFill>
                  <a:srgbClr val="68758A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567817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FA40F43-A269-4BD8-BBAD-CE51EAE99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467D8"/>
                </a:solidFill>
              </a:defRPr>
            </a:pPr>
            <a:r>
              <a:rPr sz="975" b="1">
                <a:solidFill>
                  <a:srgbClr val="1467D8"/>
                </a:solidFill>
              </a:rPr>
              <a:t>VALIDATION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1578EF-509D-4852-84C9-920BF9F4B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23900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33"/>
                </a:solidFill>
              </a:defRPr>
            </a:pPr>
            <a:r>
              <a:rPr sz="2850" b="1">
                <a:solidFill>
                  <a:srgbClr val="172033"/>
                </a:solidFill>
              </a:rPr>
              <a:t>Evidence over optimistic counting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473866-6C50-456B-916A-E342ED9FC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716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FB3FA6-0809-49B3-AFDB-2A8572514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033"/>
                </a:solidFill>
              </a:defRPr>
            </a:pPr>
            <a:r>
              <a:rPr sz="1875" b="1">
                <a:solidFill>
                  <a:srgbClr val="172033"/>
                </a:solidFill>
              </a:rPr>
              <a:t>Automated coverage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1BE497-2EEC-475B-99EE-459680023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28875"/>
            <a:ext cx="95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47A55"/>
          </a:solidFill>
          <a:ln xmlns:a="http://schemas.openxmlformats.org/drawingml/2006/main" w="9525">
            <a:solidFill>
              <a:srgbClr val="147A5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CE35FE-FB83-47B7-A941-24F3FAD94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62200"/>
            <a:ext cx="1009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33"/>
                </a:solidFill>
              </a:defRPr>
            </a:pPr>
            <a:r>
              <a:rPr sz="1500" b="0">
                <a:solidFill>
                  <a:srgbClr val="172033"/>
                </a:solidFill>
              </a:rPr>
              <a:t>Random movement and low-confidence flicker do not advance reps.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911A72-9F5C-44F1-9666-422ECD414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95625"/>
            <a:ext cx="95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47A55"/>
          </a:solidFill>
          <a:ln xmlns:a="http://schemas.openxmlformats.org/drawingml/2006/main" w="9525">
            <a:solidFill>
              <a:srgbClr val="147A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F0C89D-A3BF-400F-BF60-4614F5B56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28950"/>
            <a:ext cx="1009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33"/>
                </a:solidFill>
              </a:defRPr>
            </a:pPr>
            <a:r>
              <a:rPr sz="1500" b="0">
                <a:solidFill>
                  <a:srgbClr val="172033"/>
                </a:solidFill>
              </a:rPr>
              <a:t>Leaving the activity region or changing camera distance invalidates a rep.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E403AB-F4EF-481D-836D-8C2833FD0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62375"/>
            <a:ext cx="95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47A55"/>
          </a:solidFill>
          <a:ln xmlns:a="http://schemas.openxmlformats.org/drawingml/2006/main" w="9525">
            <a:solidFill>
              <a:srgbClr val="147A5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44CB92-F110-4629-8F81-282030998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95700"/>
            <a:ext cx="1009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33"/>
                </a:solidFill>
              </a:defRPr>
            </a:pPr>
            <a:r>
              <a:rPr sz="1500" b="0">
                <a:solidFill>
                  <a:srgbClr val="172033"/>
                </a:solidFill>
              </a:rPr>
              <a:t>Shallow squat, shallow push-up, hip sag, and pike are rejected.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603915-C913-4426-B7B2-E1DB3B7F4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29125"/>
            <a:ext cx="95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47A55"/>
          </a:solidFill>
          <a:ln xmlns:a="http://schemas.openxmlformats.org/drawingml/2006/main" w="9525">
            <a:solidFill>
              <a:srgbClr val="147A5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373BAA-3B9A-4DC5-B433-A9C1D2174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62450"/>
            <a:ext cx="1009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33"/>
                </a:solidFill>
              </a:defRPr>
            </a:pPr>
            <a:r>
              <a:rPr sz="1500" b="0">
                <a:solidFill>
                  <a:srgbClr val="172033"/>
                </a:solidFill>
              </a:rPr>
              <a:t>Valid slow squat, push-up, and lunge count exactly once.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DA90F8-9933-4A5A-A717-44AE36595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809750"/>
            <a:ext cx="3143250" cy="3143250"/>
          </a:xfrm>
          <a:prstGeom xmlns:a="http://schemas.openxmlformats.org/drawingml/2006/main" prst="roundRect">
            <a:avLst>
              <a:gd name="adj" fmla="val 1818"/>
            </a:avLst>
          </a:prstGeom>
          <a:solidFill xmlns:a="http://schemas.openxmlformats.org/drawingml/2006/main">
            <a:srgbClr val="0D1420"/>
          </a:solidFill>
          <a:ln xmlns:a="http://schemas.openxmlformats.org/drawingml/2006/main" w="9525">
            <a:solidFill>
              <a:srgbClr val="0D142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171D93-359C-415B-B885-085669ACA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228850"/>
            <a:ext cx="2305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6AA8FF"/>
                </a:solidFill>
              </a:defRPr>
            </a:pPr>
            <a:r>
              <a:rPr sz="1125" b="1">
                <a:solidFill>
                  <a:srgbClr val="6AA8FF"/>
                </a:solidFill>
              </a:rPr>
              <a:t>STRICT MODE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2153F9-A201-44F1-9E8A-C51EB561F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838450"/>
            <a:ext cx="23431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FFFFFF"/>
                </a:solidFill>
              </a:defRPr>
            </a:pPr>
            <a:r>
              <a:rPr sz="2325" b="1">
                <a:solidFill>
                  <a:srgbClr val="FFFFFF"/>
                </a:solidFill>
              </a:rPr>
              <a:t>Missed reps are safer than false reps.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BB8072-9E76-440E-A54C-3EF037D2B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210050"/>
            <a:ext cx="2343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A6B2C3"/>
                </a:solidFill>
              </a:defRPr>
            </a:pPr>
            <a:r>
              <a:rPr sz="1200" b="0">
                <a:solidFill>
                  <a:srgbClr val="A6B2C3"/>
                </a:solidFill>
              </a:rPr>
              <a:t>Live diagnostics explain why counting is paused.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A6DDD2-9536-436A-800E-AA266E8B5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8758A"/>
                </a:solidFill>
              </a:defRPr>
            </a:pPr>
            <a:r>
              <a:rPr sz="750" b="1">
                <a:solidFill>
                  <a:srgbClr val="68758A"/>
                </a:solidFill>
              </a:rPr>
              <a:t>SHORIR AI · MINDSPARKS 26 CODEFRONT CHALLENGE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518500-C4B4-440F-B41F-05A100ACF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515100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8758A"/>
                </a:solidFill>
              </a:defRPr>
            </a:pPr>
            <a:r>
              <a:rPr sz="750" b="1">
                <a:solidFill>
                  <a:srgbClr val="68758A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47749511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D14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9B33B7D-AF83-44A4-A260-427E97B98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514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SHORIR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51550F-17F9-4C9B-8B43-67DAB9968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781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A6B2C3"/>
                </a:solidFill>
              </a:defRPr>
            </a:pPr>
            <a:r>
              <a:rPr sz="2025" b="0">
                <a:solidFill>
                  <a:srgbClr val="A6B2C3"/>
                </a:solidFill>
              </a:rPr>
              <a:t>A practical foundation for safer, localized AI fitness guidance.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8AEBC1-3AB4-4F35-9CBD-6C01B6800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AA8FF"/>
                </a:solidFill>
              </a:defRPr>
            </a:pPr>
            <a:r>
              <a:rPr sz="1650" b="1">
                <a:solidFill>
                  <a:srgbClr val="6AA8FF"/>
                </a:solidFill>
              </a:rPr>
              <a:t>What is ready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77F6E7-C52E-4F44-92CD-F6EE08C4D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54292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Responsive light/dark product UI</a:t>
            </a:r>
          </a:p>
          <a:p xmlns:a="http://schemas.openxmlformats.org/drawingml/2006/main">
            <a:pPr algn="l"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Strict browser-side pose analysis</a:t>
            </a:r>
          </a:p>
          <a:p xmlns:a="http://schemas.openxmlformats.org/drawingml/2006/main">
            <a:pPr algn="l"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Exercise, diet, calorie, and progress workflows</a:t>
            </a:r>
          </a:p>
          <a:p xmlns:a="http://schemas.openxmlformats.org/drawingml/2006/main">
            <a:pPr algn="l"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Single-service production deployment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411ED8-8DC2-4450-B04B-190DF3F8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AA8FF"/>
                </a:solidFill>
              </a:defRPr>
            </a:pPr>
            <a:r>
              <a:rPr sz="1650" b="1">
                <a:solidFill>
                  <a:srgbClr val="6AA8FF"/>
                </a:solidFill>
              </a:rPr>
              <a:t>Next scale step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19379D-8D34-435F-AE13-7032299BD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181350"/>
            <a:ext cx="45720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Broader real-device calibration dataset</a:t>
            </a:r>
          </a:p>
          <a:p xmlns:a="http://schemas.openxmlformats.org/drawingml/2006/main">
            <a:pPr algn="l"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TURN-backed WebRTC reliability</a:t>
            </a:r>
          </a:p>
          <a:p xmlns:a="http://schemas.openxmlformats.org/drawingml/2006/main">
            <a:pPr algn="l"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Persistent production database</a:t>
            </a:r>
          </a:p>
          <a:p xmlns:a="http://schemas.openxmlformats.org/drawingml/2006/main">
            <a:pPr algn="l"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Clinician-reviewed safety content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E1E0FE-5B07-499F-A290-9FF738E73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A6B2C3"/>
                </a:solidFill>
              </a:defRPr>
            </a:pPr>
            <a:r>
              <a:rPr sz="1200" b="1">
                <a:solidFill>
                  <a:srgbClr val="A6B2C3"/>
                </a:solidFill>
              </a:rPr>
              <a:t>Team El Bracino · Mindsparks 26 CodeFront Challenge</a:t>
            </a:r>
          </a:p>
        </p:txBody>
      </p:sp>
    </p:spTree>
    <p:extLst>
      <p:ext uri="{BB962C8B-B14F-4D97-AF65-F5344CB8AC3E}">
        <p14:creationId xmlns:p14="http://schemas.microsoft.com/office/powerpoint/2010/main" val="69888183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2026-06-25T17:20:17.8990000Z</dcterms:created>
  <dcterms:modified xsi:type="dcterms:W3CDTF">2026-06-25T17:20:17.9000000Z</dcterms:modified>
</coreProperties>
</file>